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8"/>
    <p:sldId id="269" r:id="rId19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의료데이터의 Azure 클라우드 이관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078D4"/>
                </a:solidFill>
                <a:latin typeface="맑은 고딕"/>
              </a:rPr>
              <a:t>진료 목적 · 연구 목적 데이터별 고려사항과 사전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9D3E0"/>
                </a:solidFill>
                <a:latin typeface="맑은 고딕"/>
              </a:rPr>
              <a:t>국내 의료법·개인정보보호법 준수 관점의 검토 자료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5A6E"/>
                </a:solidFill>
                <a:latin typeface="맑은 고딕"/>
              </a:rPr>
              <a:t>프로젝트 담당자 전달용 · 내부 검토 초안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76E00"/>
                </a:solidFill>
                <a:latin typeface="맑은 고딕"/>
              </a:rPr>
              <a:t>※ 본 자료는 설계 검토용 요약이며 법률 자문이 아님 — 배포 전 법무·IRB/DRB 검토 필수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맑은 고딕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핵심 요지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A6E"/>
                </a:solidFill>
                <a:latin typeface="맑은 고딕"/>
              </a:rPr>
              <a:t>의료데이터 Azure 이관 — 진료·연구 목적 컴플라이언스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A6E"/>
                </a:solidFill>
                <a:latin typeface="맑은 고딕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106424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76200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490472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1B2F"/>
                </a:solidFill>
                <a:latin typeface="맑은 고딕"/>
              </a:rPr>
              <a:t>1. 용도가 곧 법적 근거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5A6E"/>
                </a:solidFill>
                <a:latin typeface="맑은 고딕"/>
              </a:rPr>
              <a:t>진료(1차)와 연구(2차)는 근거법·동의·데이터형태·심의 절차가 완전히 다름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76200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679192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1B2F"/>
                </a:solidFill>
                <a:latin typeface="맑은 고딕"/>
              </a:rPr>
              <a:t>2. 데이터는 물리적으로 분리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108960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5A6E"/>
                </a:solidFill>
                <a:latin typeface="맑은 고딕"/>
              </a:rPr>
              <a:t>진료(실명)와 연구(가명) 영역을 구독/네트워크 단위로 분리, 단방향 게이트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49040"/>
            <a:ext cx="1106424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749040"/>
            <a:ext cx="76200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867912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1B2F"/>
                </a:solidFill>
                <a:latin typeface="맑은 고딕"/>
              </a:rPr>
              <a:t>3. 국내 리전 · CSAP · 암호화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97680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5A6E"/>
                </a:solidFill>
                <a:latin typeface="맑은 고딕"/>
              </a:rPr>
              <a:t>Korea 리전 고정, 공공/의료는 CSAP 범위 내, CMK 암호화·최소권한·2년 로그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1106424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937760"/>
            <a:ext cx="76200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056632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1B2F"/>
                </a:solidFill>
                <a:latin typeface="맑은 고딕"/>
              </a:rPr>
              <a:t>4. 재식별 차단이 핵심 통제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86400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5A6E"/>
                </a:solidFill>
                <a:latin typeface="맑은 고딕"/>
              </a:rPr>
              <a:t>가명처리 후 반입, 매핑키 분리 보관, 재식별·역방향 경로 원천 차단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맑은 고딕"/>
              </a:rPr>
              <a:t>REGULATIONS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적용 핵심 법령·기준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A6E"/>
                </a:solidFill>
                <a:latin typeface="맑은 고딕"/>
              </a:rPr>
              <a:t>의료데이터 Azure 이관 — 진료·연구 목적 컴플라이언스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A6E"/>
                </a:solidFill>
                <a:latin typeface="맑은 고딕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4023360" cy="4572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0" y="1325880"/>
            <a:ext cx="7040880" cy="4572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99032"/>
            <a:ext cx="38404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법령 /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399032"/>
            <a:ext cx="67665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규율 대상 핵심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4023360" cy="84124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0" y="1783080"/>
            <a:ext cx="7040880" cy="84124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892808"/>
            <a:ext cx="384048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1B2F"/>
                </a:solidFill>
                <a:latin typeface="맑은 고딕"/>
              </a:rPr>
              <a:t>개인정보보호법 (PIPA)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1892808"/>
            <a:ext cx="676656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5A6E"/>
                </a:solidFill>
                <a:latin typeface="맑은 고딕"/>
              </a:rPr>
              <a:t>건강정보=민감정보. 별도 안전조치·동의. §28-2 가명정보 특례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24328"/>
            <a:ext cx="402336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0" y="2624328"/>
            <a:ext cx="704088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2734056"/>
            <a:ext cx="384048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1B2F"/>
                </a:solidFill>
                <a:latin typeface="맑은 고딕"/>
              </a:rPr>
              <a:t>의료법 §23 / 시행규칙 §16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734056"/>
            <a:ext cx="676656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5A6E"/>
                </a:solidFill>
                <a:latin typeface="맑은 고딕"/>
              </a:rPr>
              <a:t>전자의무기록(EMR) 작성·보관, 외부(클라우드) 보관 시설·장비 요건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465576"/>
            <a:ext cx="4023360" cy="84124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0" y="3465576"/>
            <a:ext cx="7040880" cy="84124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575304"/>
            <a:ext cx="384048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1B2F"/>
                </a:solidFill>
                <a:latin typeface="맑은 고딕"/>
              </a:rPr>
              <a:t>생명윤리 및 안전에 관한 법률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575304"/>
            <a:ext cx="676656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5A6E"/>
                </a:solidFill>
                <a:latin typeface="맑은 고딕"/>
              </a:rPr>
              <a:t>인간대상·인체유래물 연구 시 IRB 심의, 유전정보 활용 제한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06824"/>
            <a:ext cx="402336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0" y="4306824"/>
            <a:ext cx="704088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416552"/>
            <a:ext cx="384048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1B2F"/>
                </a:solidFill>
                <a:latin typeface="맑은 고딕"/>
              </a:rPr>
              <a:t>보건의료데이터 활용 가이드라인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416552"/>
            <a:ext cx="676656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5A6E"/>
                </a:solidFill>
                <a:latin typeface="맑은 고딕"/>
              </a:rPr>
              <a:t>가명처리 방법·데이터심의위원회(DRB) 절차 (보건복지부)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48072"/>
            <a:ext cx="4023360" cy="84124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0" y="5148072"/>
            <a:ext cx="7040880" cy="84124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5257800"/>
            <a:ext cx="384048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1B2F"/>
                </a:solidFill>
                <a:latin typeface="맑은 고딕"/>
              </a:rPr>
              <a:t>클라우드컴퓨팅법 / CSAP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5257800"/>
            <a:ext cx="676656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5A6E"/>
                </a:solidFill>
                <a:latin typeface="맑은 고딕"/>
              </a:rPr>
              <a:t>공공·의료 클라우드 보안인증(등급·리전·배포유형 단위)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맑은 고딕"/>
              </a:rPr>
              <a:t>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용도별 비교 — 진료 목적 vs 연구 목적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A6E"/>
                </a:solidFill>
                <a:latin typeface="맑은 고딕"/>
              </a:rPr>
              <a:t>의료데이터 Azure 이관 — 진료·연구 목적 컴플라이언스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A6E"/>
                </a:solidFill>
                <a:latin typeface="맑은 고딕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5349240" cy="47548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5349240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453896"/>
            <a:ext cx="5038344" cy="202106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dirty="0" err="1">
                <a:solidFill>
                  <a:srgbClr val="0078D4"/>
                </a:solidFill>
                <a:latin typeface="맑은 고딕"/>
              </a:rPr>
              <a:t>진료</a:t>
            </a:r>
            <a:r>
              <a:rPr sz="1300" b="1" dirty="0">
                <a:solidFill>
                  <a:srgbClr val="0078D4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0078D4"/>
                </a:solidFill>
                <a:latin typeface="맑은 고딕"/>
              </a:rPr>
              <a:t>목적</a:t>
            </a:r>
            <a:r>
              <a:rPr sz="1300" b="1" dirty="0">
                <a:solidFill>
                  <a:srgbClr val="0078D4"/>
                </a:solidFill>
                <a:latin typeface="맑은 고딕"/>
              </a:rPr>
              <a:t> (1차 </a:t>
            </a:r>
            <a:r>
              <a:rPr sz="1300" b="1" dirty="0" err="1">
                <a:solidFill>
                  <a:srgbClr val="0078D4"/>
                </a:solidFill>
                <a:latin typeface="맑은 고딕"/>
              </a:rPr>
              <a:t>활용</a:t>
            </a:r>
            <a:r>
              <a:rPr sz="1300" b="1" dirty="0">
                <a:solidFill>
                  <a:srgbClr val="0078D4"/>
                </a:solidFill>
                <a:latin typeface="맑은 고딕"/>
              </a:rPr>
              <a:t>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1B1B2F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근거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: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의료법·PIPA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§15 (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진료계약·법령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의무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1B1B2F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동의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: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진료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목적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처리는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별도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동의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불요</a:t>
            </a:r>
            <a:endParaRPr sz="1250" b="0" dirty="0">
              <a:solidFill>
                <a:srgbClr val="1B1B2F"/>
              </a:solidFill>
              <a:latin typeface="맑은 고딕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1B1B2F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데이터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: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실명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(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식별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)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데이터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그대로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사용</a:t>
            </a:r>
            <a:endParaRPr sz="1250" b="0" dirty="0">
              <a:solidFill>
                <a:srgbClr val="1B1B2F"/>
              </a:solidFill>
              <a:latin typeface="맑은 고딕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1B1B2F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심의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: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없음</a:t>
            </a:r>
            <a:endParaRPr sz="1250" b="0" dirty="0">
              <a:solidFill>
                <a:srgbClr val="1B1B2F"/>
              </a:solidFill>
              <a:latin typeface="맑은 고딕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1B1B2F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의무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:</a:t>
            </a:r>
            <a:r>
              <a:rPr sz="1250" dirty="0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 EMR </a:t>
            </a:r>
            <a:r>
              <a:rPr sz="1250" dirty="0" err="1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외부보관</a:t>
            </a:r>
            <a:r>
              <a:rPr sz="1250" dirty="0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 </a:t>
            </a:r>
            <a:r>
              <a:rPr sz="1250" dirty="0" err="1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요건·암호화·접근통제</a:t>
            </a:r>
            <a:endParaRPr sz="1250" dirty="0">
              <a:solidFill>
                <a:srgbClr val="1B1B2F"/>
              </a:solidFill>
              <a:highlight>
                <a:srgbClr val="FFFF00"/>
              </a:highlight>
              <a:latin typeface="맑은 고딕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1B1B2F"/>
                </a:solidFill>
                <a:latin typeface="맑은 고딕"/>
              </a:rPr>
              <a:t>•     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접속기록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2년+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보관</a:t>
            </a:r>
            <a:endParaRPr sz="1250" b="0" dirty="0">
              <a:solidFill>
                <a:srgbClr val="1B1B2F"/>
              </a:solidFill>
              <a:latin typeface="맑은 고딕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1B1B2F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대상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: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진료·검사·처방·의뢰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등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환자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직접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사용</a:t>
            </a:r>
            <a:endParaRPr sz="1250" b="0" dirty="0">
              <a:solidFill>
                <a:srgbClr val="1B1B2F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5349240" cy="47548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5349240" cy="6350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453896"/>
            <a:ext cx="5038344" cy="22775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dirty="0" err="1">
                <a:solidFill>
                  <a:srgbClr val="107C41"/>
                </a:solidFill>
                <a:latin typeface="맑은 고딕"/>
              </a:rPr>
              <a:t>연구</a:t>
            </a:r>
            <a:r>
              <a:rPr sz="1300" b="1" dirty="0">
                <a:solidFill>
                  <a:srgbClr val="107C4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07C41"/>
                </a:solidFill>
                <a:latin typeface="맑은 고딕"/>
              </a:rPr>
              <a:t>목적</a:t>
            </a:r>
            <a:r>
              <a:rPr sz="1300" b="1" dirty="0">
                <a:solidFill>
                  <a:srgbClr val="107C41"/>
                </a:solidFill>
                <a:latin typeface="맑은 고딕"/>
              </a:rPr>
              <a:t> (2차 </a:t>
            </a:r>
            <a:r>
              <a:rPr sz="1300" b="1" dirty="0" err="1">
                <a:solidFill>
                  <a:srgbClr val="107C41"/>
                </a:solidFill>
                <a:latin typeface="맑은 고딕"/>
              </a:rPr>
              <a:t>활용</a:t>
            </a:r>
            <a:r>
              <a:rPr sz="1300" b="1" dirty="0">
                <a:solidFill>
                  <a:srgbClr val="107C41"/>
                </a:solidFill>
                <a:latin typeface="맑은 고딕"/>
              </a:rPr>
              <a:t>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1B1B2F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근거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: PIPA §28-2·생명윤리법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1B1B2F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트랙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A —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동의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기반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1B1B2F"/>
                </a:solidFill>
                <a:latin typeface="맑은 고딕"/>
              </a:rPr>
              <a:t>•  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명시적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동의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+ IRB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심의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→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식별데이터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가능</a:t>
            </a:r>
            <a:endParaRPr sz="1250" b="0" dirty="0">
              <a:solidFill>
                <a:srgbClr val="1B1B2F"/>
              </a:solidFill>
              <a:latin typeface="맑은 고딕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1B1B2F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트랙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B —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가명처리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기반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(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동의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면제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):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1B1B2F"/>
                </a:solidFill>
                <a:latin typeface="맑은 고딕"/>
              </a:rPr>
              <a:t>•   </a:t>
            </a:r>
            <a:r>
              <a:rPr sz="1250" b="0" dirty="0" err="1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과학적</a:t>
            </a:r>
            <a:r>
              <a:rPr sz="1250" b="0" dirty="0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연구·통계·공익</a:t>
            </a:r>
            <a:r>
              <a:rPr sz="1250" b="0" dirty="0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목적</a:t>
            </a:r>
            <a:r>
              <a:rPr sz="1250" b="0" dirty="0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한정</a:t>
            </a:r>
            <a:endParaRPr sz="1250" b="0" dirty="0">
              <a:solidFill>
                <a:srgbClr val="1B1B2F"/>
              </a:solidFill>
              <a:highlight>
                <a:srgbClr val="FFFF00"/>
              </a:highlight>
              <a:latin typeface="맑은 고딕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•   ① </a:t>
            </a:r>
            <a:r>
              <a:rPr sz="1250" b="0" dirty="0" err="1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가명처리</a:t>
            </a:r>
            <a:r>
              <a:rPr sz="1250" b="0" dirty="0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 ② DRB </a:t>
            </a:r>
            <a:r>
              <a:rPr sz="1250" b="0" dirty="0" err="1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승인</a:t>
            </a:r>
            <a:r>
              <a:rPr sz="1250" b="0" dirty="0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 ③ </a:t>
            </a:r>
            <a:r>
              <a:rPr sz="1250" b="0" dirty="0" err="1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재식별</a:t>
            </a:r>
            <a:r>
              <a:rPr sz="1250" b="0" dirty="0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금지</a:t>
            </a:r>
            <a:endParaRPr sz="1250" b="0" dirty="0">
              <a:solidFill>
                <a:srgbClr val="1B1B2F"/>
              </a:solidFill>
              <a:highlight>
                <a:srgbClr val="FFFF00"/>
              </a:highlight>
              <a:latin typeface="맑은 고딕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•   ④ </a:t>
            </a:r>
            <a:r>
              <a:rPr sz="1250" b="0" dirty="0" err="1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결합은</a:t>
            </a:r>
            <a:r>
              <a:rPr sz="1250" b="0" dirty="0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결합전문기관</a:t>
            </a:r>
            <a:r>
              <a:rPr sz="1250" b="0" dirty="0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highlight>
                  <a:srgbClr val="FFFF00"/>
                </a:highlight>
                <a:latin typeface="맑은 고딕"/>
              </a:rPr>
              <a:t>경유</a:t>
            </a:r>
            <a:endParaRPr sz="1250" b="0" dirty="0">
              <a:solidFill>
                <a:srgbClr val="1B1B2F"/>
              </a:solidFill>
              <a:highlight>
                <a:srgbClr val="FFFF00"/>
              </a:highlight>
              <a:latin typeface="맑은 고딕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1B1B2F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주의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: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유전·생체정보는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별도</a:t>
            </a:r>
            <a:r>
              <a:rPr sz="1250" b="0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1B1B2F"/>
                </a:solidFill>
                <a:latin typeface="맑은 고딕"/>
              </a:rPr>
              <a:t>검토</a:t>
            </a:r>
            <a:endParaRPr sz="1250" b="0" dirty="0">
              <a:solidFill>
                <a:srgbClr val="1B1B2F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B76E00"/>
                </a:solidFill>
                <a:latin typeface="맑은 고딕"/>
              </a:rPr>
              <a:t>⚠ 진료용 데이터를 연구에 재사용 = 목적 외 이용 → 동의 또는 가명처리+DRB 필요 (자동 허용 아님)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맑은 고딕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목적별 분리 아키텍처 (단방향 게이트)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A6E"/>
                </a:solidFill>
                <a:latin typeface="맑은 고딕"/>
              </a:rPr>
              <a:t>의료데이터 Azure 이관 — 진료·연구 목적 컴플라이언스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A6E"/>
                </a:solidFill>
                <a:latin typeface="맑은 고딕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4846320" cy="40233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4846320" cy="762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448056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078D4"/>
                </a:solidFill>
                <a:latin typeface="맑은 고딕"/>
              </a:rPr>
              <a:t>진료 영역 (식별 데이터)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4480560" cy="3108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1B2F"/>
                </a:solidFill>
                <a:latin typeface="맑은 고딕"/>
              </a:rPr>
              <a:t>Subscription / RG: clinical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1B2F"/>
                </a:solidFill>
                <a:latin typeface="맑은 고딕"/>
              </a:rPr>
              <a:t>• Azure Health Data Services (FHIR)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1B2F"/>
                </a:solidFill>
                <a:latin typeface="맑은 고딕"/>
              </a:rPr>
              <a:t>• 실명 EMR / 진료 데이터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1B2F"/>
                </a:solidFill>
                <a:latin typeface="맑은 고딕"/>
              </a:rPr>
              <a:t>• 접근: 진료 인가자 (RBAC·조건부)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1B2F"/>
                </a:solidFill>
                <a:latin typeface="맑은 고딕"/>
              </a:rPr>
              <a:t>• 국내 리전 · CMK 암호화 · Private EP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7C41"/>
                </a:solidFill>
                <a:latin typeface="맑은 고딕"/>
              </a:rPr>
              <a:t>• 매핑키(재식별키) Key Vault 격리 보관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463040"/>
            <a:ext cx="4846320" cy="40233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66560" y="1463040"/>
            <a:ext cx="4846320" cy="7620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0" y="1600200"/>
            <a:ext cx="448056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7C41"/>
                </a:solidFill>
                <a:latin typeface="맑은 고딕"/>
              </a:rPr>
              <a:t>연구 영역 (가명 데이터)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148840"/>
            <a:ext cx="4480560" cy="3108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1B2F"/>
                </a:solidFill>
                <a:latin typeface="맑은 고딕"/>
              </a:rPr>
              <a:t>Subscription / RG: research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1B2F"/>
                </a:solidFill>
                <a:latin typeface="맑은 고딕"/>
              </a:rPr>
              <a:t>• 가명처리 후 데이터만 반입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1B2F"/>
                </a:solidFill>
                <a:latin typeface="맑은 고딕"/>
              </a:rPr>
              <a:t>• Synapse / Databricks 분석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1B2F"/>
                </a:solidFill>
                <a:latin typeface="맑은 고딕"/>
              </a:rPr>
              <a:t>• AI / ML 학습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1B2F"/>
                </a:solidFill>
                <a:latin typeface="맑은 고딕"/>
              </a:rPr>
              <a:t>• 접근: 연구 승인자 (DRB 승인)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7C41"/>
                </a:solidFill>
                <a:latin typeface="맑은 고딕"/>
              </a:rPr>
              <a:t>• 재식별키 도달 불가 (망 분리)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40680" y="3063240"/>
            <a:ext cx="1280160" cy="822960"/>
          </a:xfrm>
          <a:prstGeom prst="rightArrow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57800" y="3931920"/>
            <a:ext cx="16916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B76E00"/>
                </a:solidFill>
                <a:latin typeface="맑은 고딕"/>
              </a:rPr>
              <a:t>가명처리
게이트(단방향)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dirty="0" err="1">
                <a:solidFill>
                  <a:srgbClr val="1B1B2F"/>
                </a:solidFill>
                <a:latin typeface="맑은 고딕"/>
              </a:rPr>
              <a:t>핵심</a:t>
            </a:r>
            <a:r>
              <a:rPr sz="1250" b="1" dirty="0">
                <a:solidFill>
                  <a:srgbClr val="1B1B2F"/>
                </a:solidFill>
                <a:latin typeface="맑은 고딕"/>
              </a:rPr>
              <a:t>: </a:t>
            </a:r>
            <a:r>
              <a:rPr sz="1250" b="1" dirty="0" err="1">
                <a:solidFill>
                  <a:srgbClr val="1B1B2F"/>
                </a:solidFill>
                <a:latin typeface="맑은 고딕"/>
              </a:rPr>
              <a:t>진료</a:t>
            </a:r>
            <a:r>
              <a:rPr sz="1250" b="1" dirty="0">
                <a:solidFill>
                  <a:srgbClr val="1B1B2F"/>
                </a:solidFill>
                <a:latin typeface="맑은 고딕"/>
              </a:rPr>
              <a:t>→(</a:t>
            </a:r>
            <a:r>
              <a:rPr sz="1250" b="1" dirty="0" err="1">
                <a:solidFill>
                  <a:srgbClr val="1B1B2F"/>
                </a:solidFill>
                <a:latin typeface="맑은 고딕"/>
              </a:rPr>
              <a:t>가명처리</a:t>
            </a:r>
            <a:r>
              <a:rPr sz="1250" b="1" dirty="0">
                <a:solidFill>
                  <a:srgbClr val="1B1B2F"/>
                </a:solidFill>
                <a:latin typeface="맑은 고딕"/>
              </a:rPr>
              <a:t>)→</a:t>
            </a:r>
            <a:r>
              <a:rPr sz="1250" b="1" dirty="0" err="1">
                <a:solidFill>
                  <a:srgbClr val="1B1B2F"/>
                </a:solidFill>
                <a:latin typeface="맑은 고딕"/>
              </a:rPr>
              <a:t>연구</a:t>
            </a:r>
            <a:r>
              <a:rPr sz="1250" b="1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B1B2F"/>
                </a:solidFill>
                <a:latin typeface="맑은 고딕"/>
              </a:rPr>
              <a:t>단방향만</a:t>
            </a:r>
            <a:r>
              <a:rPr sz="1250" b="1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B1B2F"/>
                </a:solidFill>
                <a:latin typeface="맑은 고딕"/>
              </a:rPr>
              <a:t>허용</a:t>
            </a:r>
            <a:r>
              <a:rPr sz="1250" b="1" dirty="0">
                <a:solidFill>
                  <a:srgbClr val="1B1B2F"/>
                </a:solidFill>
                <a:latin typeface="맑은 고딕"/>
              </a:rPr>
              <a:t>. </a:t>
            </a:r>
            <a:r>
              <a:rPr sz="1250" b="1" dirty="0" err="1">
                <a:solidFill>
                  <a:srgbClr val="1B1B2F"/>
                </a:solidFill>
                <a:latin typeface="맑은 고딕"/>
              </a:rPr>
              <a:t>역방향·재식별</a:t>
            </a:r>
            <a:r>
              <a:rPr sz="1250" b="1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B1B2F"/>
                </a:solidFill>
                <a:latin typeface="맑은 고딕"/>
              </a:rPr>
              <a:t>경로</a:t>
            </a:r>
            <a:r>
              <a:rPr sz="1250" b="1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B1B2F"/>
                </a:solidFill>
                <a:latin typeface="맑은 고딕"/>
              </a:rPr>
              <a:t>원천</a:t>
            </a:r>
            <a:r>
              <a:rPr sz="1250" b="1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B1B2F"/>
                </a:solidFill>
                <a:latin typeface="맑은 고딕"/>
              </a:rPr>
              <a:t>차단</a:t>
            </a:r>
            <a:r>
              <a:rPr sz="1250" b="1" dirty="0">
                <a:solidFill>
                  <a:srgbClr val="1B1B2F"/>
                </a:solidFill>
                <a:latin typeface="맑은 고딕"/>
              </a:rPr>
              <a:t>. </a:t>
            </a:r>
            <a:r>
              <a:rPr sz="1250" b="1" dirty="0" err="1">
                <a:solidFill>
                  <a:srgbClr val="1B1B2F"/>
                </a:solidFill>
                <a:latin typeface="맑은 고딕"/>
              </a:rPr>
              <a:t>매핑키는</a:t>
            </a:r>
            <a:r>
              <a:rPr sz="1250" b="1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B1B2F"/>
                </a:solidFill>
                <a:latin typeface="맑은 고딕"/>
              </a:rPr>
              <a:t>진료영역에</a:t>
            </a:r>
            <a:r>
              <a:rPr sz="1250" b="1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B1B2F"/>
                </a:solidFill>
                <a:latin typeface="맑은 고딕"/>
              </a:rPr>
              <a:t>분리</a:t>
            </a:r>
            <a:r>
              <a:rPr sz="1250" b="1" dirty="0">
                <a:solidFill>
                  <a:srgbClr val="1B1B2F"/>
                </a:solidFill>
                <a:latin typeface="맑은 고딕"/>
              </a:rPr>
              <a:t>, </a:t>
            </a:r>
            <a:r>
              <a:rPr sz="1250" b="1" dirty="0" err="1">
                <a:solidFill>
                  <a:srgbClr val="1B1B2F"/>
                </a:solidFill>
                <a:latin typeface="맑은 고딕"/>
              </a:rPr>
              <a:t>연구자</a:t>
            </a:r>
            <a:r>
              <a:rPr sz="1250" b="1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B1B2F"/>
                </a:solidFill>
                <a:latin typeface="맑은 고딕"/>
              </a:rPr>
              <a:t>접근</a:t>
            </a:r>
            <a:r>
              <a:rPr sz="1250" b="1" dirty="0">
                <a:solidFill>
                  <a:srgbClr val="1B1B2F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B1B2F"/>
                </a:solidFill>
                <a:latin typeface="맑은 고딕"/>
              </a:rPr>
              <a:t>불가</a:t>
            </a:r>
            <a:r>
              <a:rPr sz="1250" b="1" dirty="0">
                <a:solidFill>
                  <a:srgbClr val="1B1B2F"/>
                </a:solidFill>
                <a:latin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맑은 고딕"/>
              </a:rP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Azure 공통 기반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A6E"/>
                </a:solidFill>
                <a:latin typeface="맑은 고딕"/>
              </a:rPr>
              <a:t>의료데이터 Azure 이관 — 진료·연구 목적 컴플라이언스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A6E"/>
                </a:solidFill>
                <a:latin typeface="맑은 고딕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39496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394960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499616"/>
            <a:ext cx="5084064" cy="7955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078D4"/>
                </a:solidFill>
                <a:latin typeface="맑은 고딕"/>
              </a:rPr>
              <a:t>리전 / 레지던시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B1B2F"/>
                </a:solidFill>
                <a:latin typeface="맑은 고딕"/>
              </a:rPr>
              <a:t>• Korea Central·South 고정, 백업·DR도 국내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539496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5394960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688336"/>
            <a:ext cx="5084064" cy="7955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078D4"/>
                </a:solidFill>
                <a:latin typeface="맑은 고딕"/>
              </a:rPr>
              <a:t>국외이전 차단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B1B2F"/>
                </a:solidFill>
                <a:latin typeface="맑은 고딕"/>
              </a:rPr>
              <a:t>• 로그·모니터링·AI 엔드포인트 해외 유출 점검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49040"/>
            <a:ext cx="539496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749040"/>
            <a:ext cx="5394960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877056"/>
            <a:ext cx="5084064" cy="7955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078D4"/>
                </a:solidFill>
                <a:latin typeface="맑은 고딕"/>
              </a:rPr>
              <a:t>CSAP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B1B2F"/>
                </a:solidFill>
                <a:latin typeface="맑은 고딕"/>
              </a:rPr>
              <a:t>• 공공/의료는 인증 범위 내 서비스만 채택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539496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5394960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5065776"/>
            <a:ext cx="5084064" cy="7955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078D4"/>
                </a:solidFill>
                <a:latin typeface="맑은 고딕"/>
              </a:rPr>
              <a:t>네트워크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B1B2F"/>
                </a:solidFill>
                <a:latin typeface="맑은 고딕"/>
              </a:rPr>
              <a:t>• Private Endpoint·폐쇄망, 공용 액세스 차단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539496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394960" cy="635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1499616"/>
            <a:ext cx="5084064" cy="7955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B1B2F"/>
                </a:solidFill>
                <a:latin typeface="맑은 고딕"/>
              </a:rPr>
              <a:t>암호화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B1B2F"/>
                </a:solidFill>
                <a:latin typeface="맑은 고딕"/>
              </a:rPr>
              <a:t>• 저장 CMK(Key Vault) + 전송 TLS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560320"/>
            <a:ext cx="539496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2560320"/>
            <a:ext cx="5394960" cy="635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82512" y="2688336"/>
            <a:ext cx="5084064" cy="7955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B1B2F"/>
                </a:solidFill>
                <a:latin typeface="맑은 고딕"/>
              </a:rPr>
              <a:t>ID / 접근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B1B2F"/>
                </a:solidFill>
                <a:latin typeface="맑은 고딕"/>
              </a:rPr>
              <a:t>• Entra ID·RBAC 최소권한·PIM·MFA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749040"/>
            <a:ext cx="539496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3749040"/>
            <a:ext cx="5394960" cy="635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2512" y="3877056"/>
            <a:ext cx="5084064" cy="7955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B1B2F"/>
                </a:solidFill>
                <a:latin typeface="맑은 고딕"/>
              </a:rPr>
              <a:t>감사 로그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B1B2F"/>
                </a:solidFill>
                <a:latin typeface="맑은 고딕"/>
              </a:rPr>
              <a:t>• Log Analytics, 접속기록 2년+ 불변 보존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937760"/>
            <a:ext cx="539496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937760"/>
            <a:ext cx="5394960" cy="635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82512" y="5065776"/>
            <a:ext cx="5084064" cy="7955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B1B2F"/>
                </a:solidFill>
                <a:latin typeface="맑은 고딕"/>
              </a:rPr>
              <a:t>위수탁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B1B2F"/>
                </a:solidFill>
                <a:latin typeface="맑은 고딕"/>
              </a:rPr>
              <a:t>• MS와 DPA 체결·재위탁 통제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맑은 고딕"/>
              </a:rPr>
              <a:t>PRE-CHECK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목적별 사전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A6E"/>
                </a:solidFill>
                <a:latin typeface="맑은 고딕"/>
              </a:rPr>
              <a:t>의료데이터 Azure 이관 — 진료·연구 목적 컴플라이언스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A6E"/>
                </a:solidFill>
                <a:latin typeface="맑은 고딕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394960" cy="4480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394960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499616"/>
            <a:ext cx="5084064" cy="42245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078D4"/>
                </a:solidFill>
                <a:latin typeface="맑은 고딕"/>
              </a:rPr>
              <a:t>진료 영역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1B2F"/>
                </a:solidFill>
                <a:latin typeface="맑은 고딕"/>
              </a:rPr>
              <a:t>• EMR 외부보관 요건(시행규칙 §16)·신고 대상 확인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1B2F"/>
                </a:solidFill>
                <a:latin typeface="맑은 고딕"/>
              </a:rPr>
              <a:t>• 실명데이터 접근 = 진료 인가자로 한정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1B2F"/>
                </a:solidFill>
                <a:latin typeface="맑은 고딕"/>
              </a:rPr>
              <a:t>• Health Data Services(FHIR) 인증범위·리전 확인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1B2F"/>
                </a:solidFill>
                <a:latin typeface="맑은 고딕"/>
              </a:rPr>
              <a:t>• 백업·DR 국내 리전 내 유지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1B2F"/>
                </a:solidFill>
                <a:latin typeface="맑은 고딕"/>
              </a:rPr>
              <a:t>• 개발/테스트에 운영 실명데이터 복사 금지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94960" cy="4480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394960" cy="6350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499616"/>
            <a:ext cx="5084064" cy="42245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07C41"/>
                </a:solidFill>
                <a:latin typeface="맑은 고딕"/>
              </a:rPr>
              <a:t>연구 영역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1B2F"/>
                </a:solidFill>
                <a:latin typeface="맑은 고딕"/>
              </a:rPr>
              <a:t>• 진입 전 가명처리 완료 (식별데이터 직접 반입 금지)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1B2F"/>
                </a:solidFill>
                <a:latin typeface="맑은 고딕"/>
              </a:rPr>
              <a:t>• DRB/IRB 승인 문서 확보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1B2F"/>
                </a:solidFill>
                <a:latin typeface="맑은 고딕"/>
              </a:rPr>
              <a:t>• 매핑키 진료영역 격리, 연구자 접근 차단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1B2F"/>
                </a:solidFill>
                <a:latin typeface="맑은 고딕"/>
              </a:rPr>
              <a:t>• 결합 필요 시 결합전문기관 경유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1B2F"/>
                </a:solidFill>
                <a:latin typeface="맑은 고딕"/>
              </a:rPr>
              <a:t>• AI 학습 결과·모델 재식별 잔존 여부 검토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1B2F"/>
                </a:solidFill>
                <a:latin typeface="맑은 고딕"/>
              </a:rPr>
              <a:t>• 유전·생체정보 포함 시 별도 법적 검토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맑은 고딕"/>
              </a:rPr>
              <a:t>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자주 놓치는 함정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A6E"/>
                </a:solidFill>
                <a:latin typeface="맑은 고딕"/>
              </a:rPr>
              <a:t>의료데이터 Azure 이관 — 진료·연구 목적 컴플라이언스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A6E"/>
                </a:solidFill>
                <a:latin typeface="맑은 고딕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1064240" cy="868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76200" cy="868680"/>
          </a:xfrm>
          <a:prstGeom prst="rect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64008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B76E00"/>
                </a:solidFill>
                <a:latin typeface="맑은 고딕"/>
              </a:rP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463040"/>
            <a:ext cx="987552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1B2F"/>
                </a:solidFill>
                <a:latin typeface="맑은 고딕"/>
              </a:rPr>
              <a:t>모니터링/텔레메트리가 글로벌 리전으로 유출 → 진단 데이터 옵트아웃 확인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77440"/>
            <a:ext cx="11064240" cy="868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76200" cy="868680"/>
          </a:xfrm>
          <a:prstGeom prst="rect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423160"/>
            <a:ext cx="64008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B76E00"/>
                </a:solidFill>
                <a:latin typeface="맑은 고딕"/>
              </a:rP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423160"/>
            <a:ext cx="987552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1B2F"/>
                </a:solidFill>
                <a:latin typeface="맑은 고딕"/>
              </a:rPr>
              <a:t>재식별키를 같은 볼트·같은 구독에 보관 → 물리·논리 분리 필수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37560"/>
            <a:ext cx="11064240" cy="868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337560"/>
            <a:ext cx="76200" cy="868680"/>
          </a:xfrm>
          <a:prstGeom prst="rect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383280"/>
            <a:ext cx="64008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B76E00"/>
                </a:solidFill>
                <a:latin typeface="맑은 고딕"/>
              </a:rPr>
              <a:t>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383280"/>
            <a:ext cx="987552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1B2F"/>
                </a:solidFill>
                <a:latin typeface="맑은 고딕"/>
              </a:rPr>
              <a:t>개발/테스트에 운영 실명데이터 복사 → 가명·합성데이터 사용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97680"/>
            <a:ext cx="11064240" cy="868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297680"/>
            <a:ext cx="76200" cy="868680"/>
          </a:xfrm>
          <a:prstGeom prst="rect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343400"/>
            <a:ext cx="64008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B76E00"/>
                </a:solidFill>
                <a:latin typeface="맑은 고딕"/>
              </a:rPr>
              <a:t>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343400"/>
            <a:ext cx="987552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1B2F"/>
                </a:solidFill>
                <a:latin typeface="맑은 고딕"/>
              </a:rPr>
              <a:t>백업이 CSAP 인증 범위·국내 리전 밖에 존재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257800"/>
            <a:ext cx="11064240" cy="868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5257800"/>
            <a:ext cx="76200" cy="868680"/>
          </a:xfrm>
          <a:prstGeom prst="rect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303520"/>
            <a:ext cx="64008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B76E00"/>
                </a:solidFill>
                <a:latin typeface="맑은 고딕"/>
              </a:rPr>
              <a:t>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303520"/>
            <a:ext cx="987552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1B2F"/>
                </a:solidFill>
                <a:latin typeface="맑은 고딕"/>
              </a:rPr>
              <a:t>진료 데이터를 동의·DRB 없이 연구/AI 학습에 재사용 (목적 외 이용)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맑은 고딕"/>
              </a:rPr>
              <a:t>AZURE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데이터가 올라가는 Azure 서비스 — 용도별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94960" cy="4114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512064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진료 영역 (실명·식별)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39496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37944"/>
            <a:ext cx="51206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Azure Health Data Services (FHIR/DICOM/MedTech)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30552"/>
            <a:ext cx="51206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5A6E"/>
                </a:solidFill>
                <a:latin typeface="맑은 고딕"/>
              </a:rPr>
              <a:t>EMR·영상·기기 데이터 표준 저장·교환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41448"/>
            <a:ext cx="53949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496312"/>
            <a:ext cx="51206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Azure SQL DB / SQL MI ·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51206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5A6E"/>
                </a:solidFill>
                <a:latin typeface="맑은 고딕"/>
              </a:rPr>
              <a:t>진료·처방 등 정형 데이터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99816"/>
            <a:ext cx="539496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154680"/>
            <a:ext cx="51206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Blob Storage (ADLS Gen2)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47288"/>
            <a:ext cx="51206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5A6E"/>
                </a:solidFill>
                <a:latin typeface="맑은 고딕"/>
              </a:rPr>
              <a:t>영상 원본·문서·첨부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58184"/>
            <a:ext cx="53949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813048"/>
            <a:ext cx="51206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API Management · Service Bus / Event Hubs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105656"/>
            <a:ext cx="51206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5A6E"/>
                </a:solidFill>
                <a:latin typeface="맑은 고딕"/>
              </a:rPr>
              <a:t>원내 시스템·기기 연계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16552"/>
            <a:ext cx="539496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471416"/>
            <a:ext cx="51206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Azure Cache for Redis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764024"/>
            <a:ext cx="51206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5A6E"/>
                </a:solidFill>
                <a:latin typeface="맑은 고딕"/>
              </a:rPr>
              <a:t>조회 성능·세션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371600"/>
            <a:ext cx="5394960" cy="41148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연구 영역 (가명·익명)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783080"/>
            <a:ext cx="539496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1837944"/>
            <a:ext cx="51206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ADLS Gen2 (Data Lake)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130552"/>
            <a:ext cx="51206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5A6E"/>
                </a:solidFill>
                <a:latin typeface="맑은 고딕"/>
              </a:rPr>
              <a:t>가명처리 데이터 적재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441448"/>
            <a:ext cx="53949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2496312"/>
            <a:ext cx="51206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Databricks · Synapse · Microsoft Fabric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788920"/>
            <a:ext cx="51206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5A6E"/>
                </a:solidFill>
                <a:latin typeface="맑은 고딕"/>
              </a:rPr>
              <a:t>대규모 분석·가명처리 파이프라인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099816"/>
            <a:ext cx="539496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3154680"/>
            <a:ext cx="51206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Azure Data Factory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447288"/>
            <a:ext cx="51206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5A6E"/>
                </a:solidFill>
                <a:latin typeface="맑은 고딕"/>
              </a:rPr>
              <a:t>진료→가명처리→연구 이동(ETL)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758184"/>
            <a:ext cx="53949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3813048"/>
            <a:ext cx="51206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Azure Machine Learning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105656"/>
            <a:ext cx="51206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5A6E"/>
                </a:solidFill>
                <a:latin typeface="맑은 고딕"/>
              </a:rPr>
              <a:t>모델 학습·실험 관리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416552"/>
            <a:ext cx="539496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4471416"/>
            <a:ext cx="51206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Azure OpenAI · AI Foundry · AI Search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764024"/>
            <a:ext cx="51206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5A6E"/>
                </a:solidFill>
                <a:latin typeface="맑은 고딕"/>
              </a:rPr>
              <a:t>RAG·LLM (가명데이터 기반)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A6E"/>
                </a:solidFill>
                <a:latin typeface="맑은 고딕"/>
              </a:rPr>
              <a:t>의료데이터 Azure 이관 — 진료·연구 목적 컴플라이언스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A6E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맑은 고딕"/>
              </a:rPr>
              <a:t>AZURE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공통 보안·거버넌스 계층 &amp; 서비스 선택 기준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0" cy="41148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521208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공통 보안·거버넌스 (데이터 위 계층)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48640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37944"/>
            <a:ext cx="521208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Key Vault / Managed HSM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30552"/>
            <a:ext cx="52120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5A6E"/>
                </a:solidFill>
                <a:latin typeface="맑은 고딕"/>
              </a:rPr>
              <a:t>CMK 암호화·재식별키 격리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41448"/>
            <a:ext cx="54864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496312"/>
            <a:ext cx="521208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Entra ID · RBAC · PIM · Conditional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52120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5A6E"/>
                </a:solidFill>
                <a:latin typeface="맑은 고딕"/>
              </a:rPr>
              <a:t>ID·최소권한·권한상승 승인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99816"/>
            <a:ext cx="548640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154680"/>
            <a:ext cx="521208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Private Endpoint / Private Link · Firewall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47288"/>
            <a:ext cx="52120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5A6E"/>
                </a:solidFill>
                <a:latin typeface="맑은 고딕"/>
              </a:rPr>
              <a:t>폐쇄망·공용 액세스 차단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58184"/>
            <a:ext cx="54864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813048"/>
            <a:ext cx="521208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Log Analytics · Monitor · Sentinel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105656"/>
            <a:ext cx="52120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5A6E"/>
                </a:solidFill>
                <a:latin typeface="맑은 고딕"/>
              </a:rPr>
              <a:t>감사·접속기록 2년+·위협탐지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16552"/>
            <a:ext cx="548640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471416"/>
            <a:ext cx="521208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Microsoft Purview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764024"/>
            <a:ext cx="52120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5A6E"/>
                </a:solidFill>
                <a:latin typeface="맑은 고딕"/>
              </a:rPr>
              <a:t>데이터 분류·계보·민감도 라벨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74920"/>
            <a:ext cx="54864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5129784"/>
            <a:ext cx="521208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Azure Policy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422392"/>
            <a:ext cx="52120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5A6E"/>
                </a:solidFill>
                <a:latin typeface="맑은 고딕"/>
              </a:rPr>
              <a:t>리전 잠금·태그·구성 강제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371600"/>
            <a:ext cx="5394960" cy="411480"/>
          </a:xfrm>
          <a:prstGeom prst="rect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서비스 선택 시 필수 확인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1874520"/>
            <a:ext cx="5394960" cy="35661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2057400"/>
            <a:ext cx="4937760" cy="3200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250" b="0">
                <a:solidFill>
                  <a:srgbClr val="1B1B2F"/>
                </a:solidFill>
                <a:latin typeface="맑은 고딕"/>
              </a:rPr>
              <a:t>• CSAP 인증 범위 포함 여부 (IaaS 중심, PaaS/AI는 서비스별 상이)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250" b="0">
                <a:solidFill>
                  <a:srgbClr val="1B1B2F"/>
                </a:solidFill>
                <a:latin typeface="맑은 고딕"/>
              </a:rPr>
              <a:t>• 국내 리전(Korea Central/South) 및 기능 제공 여부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250" b="0">
                <a:solidFill>
                  <a:srgbClr val="1B1B2F"/>
                </a:solidFill>
                <a:latin typeface="맑은 고딕"/>
              </a:rPr>
              <a:t>• 데이터 잔류 위치 — AI·검색 인덱스·로그의 리전 밖 유출 여부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250" b="0">
                <a:solidFill>
                  <a:srgbClr val="1B1B2F"/>
                </a:solidFill>
                <a:latin typeface="맑은 고딕"/>
              </a:rPr>
              <a:t>• Private Link 지원 (폐쇄망 구성 가능 여부)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250" b="0">
                <a:solidFill>
                  <a:srgbClr val="1B1B2F"/>
                </a:solidFill>
                <a:latin typeface="맑은 고딕"/>
              </a:rPr>
              <a:t>• CMK(고객관리키) 지원 (저장 암호화 키 통제)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577840"/>
            <a:ext cx="530352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078D4"/>
                </a:solidFill>
                <a:latin typeface="맑은 고딕"/>
              </a:rPr>
              <a:t>진료: Health Data Services + SQL + Blob + Key Vault + Private EP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07C41"/>
                </a:solidFill>
                <a:latin typeface="맑은 고딕"/>
              </a:rPr>
              <a:t>연구: ADLS + Databricks/Fabric + Azure ML + OpenAI + Purview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A6E"/>
                </a:solidFill>
                <a:latin typeface="맑은 고딕"/>
              </a:rPr>
              <a:t>의료데이터 Azure 이관 — 진료·연구 목적 컴플라이언스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A6E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맑은 고딕"/>
              </a:rPr>
              <a:t>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왜 역방향(연구→진료)은 원천 차단인가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1B2F"/>
                </a:solidFill>
                <a:latin typeface="맑은 고딕"/>
              </a:rPr>
              <a:t>"역방향" = ① 연구 데이터를 진료로 되돌리기  ② 가명데이터를 실명으로 복원(재식별)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89611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6200" cy="896112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B31B1B"/>
                </a:solidFill>
                <a:latin typeface="맑은 고딕"/>
              </a:rPr>
              <a:t>1. 재식별 금지 (위법)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1060704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5A6E"/>
                </a:solidFill>
                <a:latin typeface="맑은 고딕"/>
              </a:rPr>
              <a:t>PIPA §28-5 — 가명정보 재식별은 법으로 금지. 경로가 열리면 '매핑키+가명데이터' 결합으로 복원 가능 → 구조 자체가 위법 소지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70632"/>
            <a:ext cx="11064240" cy="89611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770632"/>
            <a:ext cx="76200" cy="896112"/>
          </a:xfrm>
          <a:prstGeom prst="rect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62072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B76E00"/>
                </a:solidFill>
                <a:latin typeface="맑은 고딕"/>
              </a:rPr>
              <a:t>2. 목적 구속 위반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27832"/>
            <a:ext cx="1060704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5A6E"/>
                </a:solidFill>
                <a:latin typeface="맑은 고딕"/>
              </a:rPr>
              <a:t>연구 데이터는 '동의 없이 연구 목적에 한해' 허용된 것. 진료(실명·동의 기반)로 되돌리면 당초 처리 근거가 붕괴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58184"/>
            <a:ext cx="11064240" cy="89611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58184"/>
            <a:ext cx="76200" cy="896112"/>
          </a:xfrm>
          <a:prstGeom prst="rect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49624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B76E00"/>
                </a:solidFill>
                <a:latin typeface="맑은 고딕"/>
              </a:rPr>
              <a:t>3. 기록 무결성 훼손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15384"/>
            <a:ext cx="1060704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5A6E"/>
                </a:solidFill>
                <a:latin typeface="맑은 고딕"/>
              </a:rPr>
              <a:t>연구영역은 가공·샘플링·AI 학습 영역. 진료기록으로 역류 시 EMR 원본성·신뢰성 훼손 (의료법상 원본 요구)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45736"/>
            <a:ext cx="11064240" cy="89611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745736"/>
            <a:ext cx="76200" cy="89611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37176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078D4"/>
                </a:solidFill>
                <a:latin typeface="맑은 고딕"/>
              </a:rPr>
              <a:t>4. 재식별은 실제 위협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02936"/>
            <a:ext cx="1060704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5A6E"/>
                </a:solidFill>
                <a:latin typeface="맑은 고딕"/>
              </a:rPr>
              <a:t>가명데이터도 타 정보 결합 시 개인 식별 가능. 단방향+매핑키 격리가 결합 자체를 불가능하게 만듦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7C41"/>
                </a:solidFill>
                <a:latin typeface="맑은 고딕"/>
              </a:rPr>
              <a:t>연구 성과를 진료에 쓰려면? 데이터 역류가 아니라 모델·통계(비개인정보)만 전달 → 진료영역에서 새 동의 기반으로 적용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6E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맑은 고딕"/>
              </a:rPr>
              <a:t>LAW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개인정보보호법 제28조의5 — 가명정보 재식별 금지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1064240" cy="16916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76200" cy="169164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B1B2F"/>
                </a:solidFill>
                <a:latin typeface="맑은 고딕"/>
              </a:rPr>
              <a:t>① 누구든지 특정 개인을 알아보기 위한 목적으로 가명정보를 처리해서는 안 된다.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B1B2F"/>
                </a:solidFill>
                <a:latin typeface="맑은 고딕"/>
              </a:rPr>
              <a:t>② 처리 과정에서 특정 개인을 알아볼 수 있는 정보가 생성되면 즉시 처리를 중지하고 지체 없이 회수·파기해야 한다.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5A5A6E"/>
                </a:solidFill>
                <a:latin typeface="맑은 고딕"/>
              </a:rPr>
              <a:t>→ '누구든지' = 처리자·연구자·수탁자·제3자 모두 대상. 우연히 생성돼도 파기 의무 발생.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5394960" cy="26517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5394960" cy="6350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5029200" cy="2377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B31B1B"/>
                </a:solidFill>
                <a:latin typeface="맑은 고딕"/>
              </a:rPr>
              <a:t>위반 시 제재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B1B2F"/>
                </a:solidFill>
                <a:latin typeface="맑은 고딕"/>
              </a:rPr>
              <a:t>• 형사: 재식별 목적 처리 시 5년 이하 징역 또는 5천만원 이하 벌금 (§71)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B1B2F"/>
                </a:solidFill>
                <a:latin typeface="맑은 고딕"/>
              </a:rPr>
              <a:t>• 행정: 과징금·시정명령 대상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07C41"/>
                </a:solidFill>
                <a:latin typeface="맑은 고딕"/>
              </a:rPr>
              <a:t>• 설계 연결: 매핑키 격리 + 단방향으로 재식별 '가능 상태' 자체를 제거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246120"/>
            <a:ext cx="5394960" cy="26517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246120"/>
            <a:ext cx="5394960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383280"/>
            <a:ext cx="5029200" cy="2377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0078D4"/>
                </a:solidFill>
                <a:latin typeface="맑은 고딕"/>
              </a:rPr>
              <a:t>관련 조문 (가명정보 특례)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1B1B2F"/>
                </a:solidFill>
                <a:latin typeface="맑은 고딕"/>
              </a:rPr>
              <a:t>• §28-2  통계·과학연구·공익 목적 동의 없이 처리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1B1B2F"/>
                </a:solidFill>
                <a:latin typeface="맑은 고딕"/>
              </a:rPr>
              <a:t>• §28-3  결합은 결합전문기관 통해서만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1B1B2F"/>
                </a:solidFill>
                <a:latin typeface="맑은 고딕"/>
              </a:rPr>
              <a:t>• §28-4  안전조치 의무(분리보관·접근통제)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B31B1B"/>
                </a:solidFill>
                <a:latin typeface="맑은 고딕"/>
              </a:rPr>
              <a:t>• §28-5  재식별 금지 + 생성 시 파기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5A6E"/>
                </a:solidFill>
                <a:latin typeface="맑은 고딕"/>
              </a:rPr>
              <a:t>※ 조문·처벌 수위는 개정될 수 있음 — 국가법령정보센터(law.go.kr) 개인정보보호법 최신본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6E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맑은 고딕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관련 법령·자료 링크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A6E"/>
                </a:solidFill>
                <a:latin typeface="맑은 고딕"/>
              </a:rPr>
              <a:t>의료데이터 Azure 이관 — 진료·연구 목적 컴플라이언스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A6E"/>
                </a:solidFill>
                <a:latin typeface="맑은 고딕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44805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개인정보보호법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371600"/>
            <a:ext cx="626364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078D4"/>
                </a:solidFill>
                <a:latin typeface="맑은 고딕"/>
              </a:rPr>
              <a:t>https://www.law.go.kr/법령/개인정보보호법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44805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의료법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828800"/>
            <a:ext cx="626364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078D4"/>
                </a:solidFill>
                <a:latin typeface="맑은 고딕"/>
              </a:rPr>
              <a:t>https://www.law.go.kr/법령/의료법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40280"/>
            <a:ext cx="11064240" cy="4572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286000"/>
            <a:ext cx="44805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의료법 시행규칙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286000"/>
            <a:ext cx="626364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078D4"/>
                </a:solidFill>
                <a:latin typeface="맑은 고딕"/>
              </a:rPr>
              <a:t>https://www.law.go.kr/법령/의료법시행규칙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9748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2743200"/>
            <a:ext cx="44805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생명윤리 및 안전에 관한 법률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743200"/>
            <a:ext cx="626364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078D4"/>
                </a:solidFill>
                <a:latin typeface="맑은 고딕"/>
              </a:rPr>
              <a:t>https://www.law.go.kr/법령/생명윤리및안전에관한법률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54680"/>
            <a:ext cx="11064240" cy="4572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200400"/>
            <a:ext cx="44805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클라우드컴퓨팅 발전 및 이용자 보호에 관한 법률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3200400"/>
            <a:ext cx="626364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078D4"/>
                </a:solidFill>
                <a:latin typeface="맑은 고딕"/>
              </a:rPr>
              <a:t>https://www.law.go.kr/법령/클라우드컴퓨팅발전및이용자보호에관한법률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3657600"/>
            <a:ext cx="44805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보건의료데이터 활용 가이드라인 (복지부)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657600"/>
            <a:ext cx="626364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078D4"/>
                </a:solidFill>
                <a:latin typeface="맑은 고딕"/>
              </a:rPr>
              <a:t>https://www.mohw.go.kr (정책 &gt; 보건의료데이터)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69080"/>
            <a:ext cx="11064240" cy="4572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4114800"/>
            <a:ext cx="44805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CSAP 인증현황 (KISA ISMS-P)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4114800"/>
            <a:ext cx="626364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078D4"/>
                </a:solidFill>
                <a:latin typeface="맑은 고딕"/>
              </a:rPr>
              <a:t>https://isms-p.or.kr/sttus/vrtl/selectVrtlCrtfctList.do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4572000"/>
            <a:ext cx="44805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클라우드 보안인증 발급현황 (공공데이터포털)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4572000"/>
            <a:ext cx="626364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078D4"/>
                </a:solidFill>
                <a:latin typeface="맑은 고딕"/>
              </a:rPr>
              <a:t>https://www.data.go.kr (검색: 클라우드 보안인증)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5029200"/>
            <a:ext cx="44805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Azure Korea CSAP (Microsoft Learn)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5029200"/>
            <a:ext cx="626364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078D4"/>
                </a:solidFill>
                <a:latin typeface="맑은 고딕"/>
              </a:rPr>
              <a:t>https://learn.microsoft.com/ko-kr/azure/compliance/offerings/offering-korea-csap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5486400"/>
            <a:ext cx="44805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1B2F"/>
                </a:solidFill>
                <a:latin typeface="맑은 고딕"/>
              </a:rPr>
              <a:t>가명정보 처리 가이드라인 (개인정보위)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5486400"/>
            <a:ext cx="626364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078D4"/>
                </a:solidFill>
                <a:latin typeface="맑은 고딕"/>
              </a:rPr>
              <a:t>https://www.pipc.go.kr (자료 &gt; 가이드라인)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5A6E"/>
                </a:solidFill>
                <a:latin typeface="맑은 고딕"/>
              </a:rPr>
              <a:t>※ 법령 원문은 국가법령정보센터(law.go.kr) 기준 최신본 확인. 링크·요건은 개정으로 변동될 수 있음.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맑은 고딕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다음 단계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A6E"/>
                </a:solidFill>
                <a:latin typeface="맑은 고딕"/>
              </a:rPr>
              <a:t>의료데이터 Azure 이관 — 진료·연구 목적 컴플라이언스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A6E"/>
                </a:solidFill>
                <a:latin typeface="맑은 고딕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1064240" cy="868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194560" cy="8686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201168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1  범위 확정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463040"/>
            <a:ext cx="850392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1B2F"/>
                </a:solidFill>
                <a:latin typeface="맑은 고딕"/>
              </a:rPr>
              <a:t>이관 대상 데이터·목적(진료/연구) 인벤토리, CSAP 인증서 서비스 범위 대조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77440"/>
            <a:ext cx="11064240" cy="868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2194560" cy="8686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201168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2  거버넌스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423160"/>
            <a:ext cx="850392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1B2F"/>
                </a:solidFill>
                <a:latin typeface="맑은 고딕"/>
              </a:rPr>
              <a:t>IRB/DRB 구성 및 가명처리 기준·승인 프로세스 수립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37560"/>
            <a:ext cx="11064240" cy="868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337560"/>
            <a:ext cx="2194560" cy="8686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201168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3  랜딩존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383280"/>
            <a:ext cx="850392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1B2F"/>
                </a:solidFill>
                <a:latin typeface="맑은 고딕"/>
              </a:rPr>
              <a:t>구독/네트워크 분리, 리전·암호화·접근·로그 기준 반영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97680"/>
            <a:ext cx="11064240" cy="868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297680"/>
            <a:ext cx="2194560" cy="8686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343400"/>
            <a:ext cx="201168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4  게이트 구현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343400"/>
            <a:ext cx="850392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1B2F"/>
                </a:solidFill>
                <a:latin typeface="맑은 고딕"/>
              </a:rPr>
              <a:t>가명처리 파이프라인(단방향)·매핑키 격리·재식별 통제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257800"/>
            <a:ext cx="11064240" cy="868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5257800"/>
            <a:ext cx="2194560" cy="8686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303520"/>
            <a:ext cx="201168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5  법무 검토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303520"/>
            <a:ext cx="850392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1B2F"/>
                </a:solidFill>
                <a:latin typeface="맑은 고딕"/>
              </a:rPr>
              <a:t>설계·계약(DPA)·국외이전·의료법 요건 최종 검토 후 배포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1577</Words>
  <Application>Microsoft Office PowerPoint</Application>
  <PresentationFormat>Widescreen</PresentationFormat>
  <Paragraphs>216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Kate Mun (KYOUNGRAN)</cp:lastModifiedBy>
  <cp:revision>2</cp:revision>
  <dcterms:created xsi:type="dcterms:W3CDTF">2013-01-27T09:14:16Z</dcterms:created>
  <dcterms:modified xsi:type="dcterms:W3CDTF">2026-07-15T02:24:01Z</dcterms:modified>
  <cp:category/>
</cp:coreProperties>
</file>